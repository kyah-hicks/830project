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99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as an algorithm-selection problem: can a learned policy decide which classical factorization heuristic to run for a given input and computational budget? Replace the author name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precise: classical algorithms are not inherently weak; the limitation is the selection policy around them. The project tests whether learned selection helps within a specific benchmark and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five methods are the action set. They are not equivalent in cost or effectiveness, and their relative value depends on the input. The policy must learn from a bounded set of training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SATzilla is a motivating algorithm-selection example from SAT solving. Avoid claiming that SATzilla itself solves factorization. Pollard’s Rho is an algorithm in the candidate set; it is not a reinforcement-learning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Cite the exact Gasse et al. paper used in your bibliography; several works by Gasse and collaborators apply learning to combinatorial optimization. Do not imply direct evidence that PPO is known to beat factorization heuristics.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Gymnasium uses reset() and step() and returns observation, reward, terminated, truncated, info. The exact feature vector must be documented in the code. Avoid leaking hidden factors p and q into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a fair comparison, fix random seeds, use disjoint train/test instances, and give each baseline the same budget. Define what 'step' means for every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PPO is the policy-optimization algorithm, not the factorization algorithm. Clarify whether each episode selects one method once or can select again after a bounded chunk; this changes the MDP and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conceptual reward, not a claim about the exact implemented coefficients. In the final presentation, replace with actual values from the environment code and include a reward ablation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whether '16-bit' and '32-bit' mean factor bit-length or modulus bit-length. Semiprimes formed from two 16-bit primes are approximately 32-bit moduli. This distinction is essential to interpreting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requested brief gives no 16-bit numerical results or actual reward logs. The plotted lines are synthetic placeholders solely to establish chart layout. Replace with real training logs before presenting as results. Add a table of measured success rates and average steps for PPO and each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the 0.0 success rate and 200.0 average steps were provided. This chart is a schematic illustration, not measured data. Replace it with the actual logged reward curve and include test-set size and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asserting a single cause without diagnostics. The 200.0 average steps strongly suggests the cap was reached, but inspect per-action counts, reward decomposition, and method-level runtime. Include the exact reward curve from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914400"/>
            <a:ext cx="329184" cy="32918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1645920"/>
            <a:ext cx="219456" cy="21945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274320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3383280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21040" y="3840480"/>
            <a:ext cx="219456" cy="21945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484632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9052560" y="1097280"/>
            <a:ext cx="1280160" cy="64008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52560" y="1097280"/>
            <a:ext cx="457200" cy="173736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2834640"/>
            <a:ext cx="1554480" cy="64008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412480" y="2834640"/>
            <a:ext cx="1097280" cy="109728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3931920"/>
            <a:ext cx="1920240" cy="100584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332720" y="3474720"/>
            <a:ext cx="731520" cy="1463040"/>
          </a:xfrm>
          <a:prstGeom prst="line">
            <a:avLst/>
          </a:prstGeom>
          <a:ln w="25400">
            <a:solidFill>
              <a:srgbClr val="233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685800"/>
            <a:ext cx="6949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Aptos"/>
              </a:defRPr>
            </a:pPr>
            <a:r>
              <a:t>REINFORCEMENT LEARNING  /  ALGORITHM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417320"/>
            <a:ext cx="6949440" cy="15419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rPr dirty="0"/>
              <a:t>Learning Heuristic Control Policies</a:t>
            </a:r>
            <a:br>
              <a:rPr dirty="0"/>
            </a:br>
            <a:r>
              <a:rPr dirty="0"/>
              <a:t>for Integer Factorization via R</a:t>
            </a:r>
            <a:r>
              <a:rPr lang="en-US" dirty="0"/>
              <a:t>einforcement </a:t>
            </a:r>
            <a:r>
              <a:rPr dirty="0"/>
              <a:t>L</a:t>
            </a:r>
            <a:r>
              <a:rPr lang="en-US" dirty="0"/>
              <a:t>earning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58952" y="3182112"/>
            <a:ext cx="62179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B2BECF"/>
                </a:solidFill>
                <a:latin typeface="Aptos"/>
              </a:defRPr>
            </a:pPr>
            <a:r>
              <a:t>Kyah Hicks  •  Track 5: Machine Learning and Probabilistic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85032"/>
            <a:ext cx="6217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2DD4BF"/>
                </a:solidFill>
                <a:latin typeface="Aptos"/>
              </a:defRPr>
            </a:pPr>
            <a:r>
              <a:t>Pillar: Reinforcement Learning  |  PPO + classical factorization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989320"/>
            <a:ext cx="731520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0">
                <a:solidFill>
                  <a:srgbClr val="B2BECF"/>
                </a:solidFill>
                <a:latin typeface="Aptos"/>
              </a:defRPr>
            </a:pPr>
            <a:r>
              <a:rPr dirty="0"/>
              <a:t>CIS-830  •  </a:t>
            </a:r>
            <a:r>
              <a:rPr lang="en-US" dirty="0"/>
              <a:t>Final</a:t>
            </a:r>
            <a:r>
              <a:rPr dirty="0"/>
              <a:t> </a:t>
            </a:r>
            <a:r>
              <a:rPr lang="en-US" dirty="0"/>
              <a:t>R</a:t>
            </a:r>
            <a:r>
              <a:rPr dirty="0"/>
              <a:t>eport  • 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• MOTIVATION</a:t>
            </a:r>
            <a:r>
              <a:rPr lang="en-US" dirty="0"/>
              <a:t> / PROBLEM STATEMENT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The problem: static heuristics are brittle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rPr dirty="0"/>
              <a:t>Integer factorization is a portfolio-selection problem, not a one-size-fits-all task.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8288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Handcrafted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86584"/>
            <a:ext cx="319125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Developers choose methods using input size, number structure, and domain knowledge. These rules may not generalize.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18288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Different 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86584"/>
            <a:ext cx="319125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Trial division is simple but scales poorly; Fermat favors close factors; Pollard methods exploit different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8288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ptos"/>
              </a:defRPr>
            </a:pPr>
            <a:r>
              <a:t>Static schedules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86584"/>
            <a:ext cx="319125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A fixed method or portfolio cannot adapt its choices from feedback during a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607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1060704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300" b="1">
                <a:solidFill>
                  <a:srgbClr val="F5F8FC"/>
                </a:solidFill>
                <a:latin typeface="Aptos"/>
              </a:defRPr>
            </a:pPr>
            <a:r>
              <a:t>Can a PPO policy learn when to invoke each method and outperform fixed selection strategies under a bounded compute budget?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•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Project goal: learn which method to 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The policy selects one of five classical methods at each decision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12344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1. Trial Division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191256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Test successive candidate divisors.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20440" cy="12344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2. Wheel Factorization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40864"/>
            <a:ext cx="3191256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Skip candidates divisible by small primes.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520440" cy="12344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3. Fermat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340864"/>
            <a:ext cx="3191256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Search for a representation n = a² − b².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520440" cy="12344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47472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ptos"/>
              </a:defRPr>
            </a:pPr>
            <a:r>
              <a:t>4. Pollard’s Rho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849624"/>
            <a:ext cx="3191256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Use pseudo-random iteration to find a nontrivial gcd.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337560"/>
            <a:ext cx="3520440" cy="12344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2" y="347472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4ADE80"/>
                </a:solidFill>
                <a:latin typeface="Aptos"/>
              </a:defRPr>
            </a:pPr>
            <a:r>
              <a:t>5. Pollard p−1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849624"/>
            <a:ext cx="3191256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Exploit smoothness of factors’ p−1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38928"/>
            <a:ext cx="106984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Target: maximize factorization success and minimize computational cost—not merely maximize episode reward.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Related work I: algorithm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rPr dirty="0"/>
              <a:t>Algorithm portfolios choose among existing solvers rather than inventing a new solver.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03520" cy="21488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11679"/>
            <a:ext cx="4974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SATzilla / solver portfolios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86584"/>
            <a:ext cx="4974336" cy="1527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Predict which SAT solver is likely to perform best from instance features. Demonstrates that instance-aware selection can outperform a single solver.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03520" cy="214884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11679"/>
            <a:ext cx="4974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Pollard’s Rho (1975)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386584"/>
            <a:ext cx="4974336" cy="1527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A classical randomized factorization algorithm. It provides one portfolio option—not a learned selector—and is often effective for factors of suitable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51560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Connection to this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515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t>The research question shifts from “Which factorization algorithm is best?” to “Which method should be selected for this input, at this point, under this budget?”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•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Related work II: learned policies vs. handcrafted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The project sits between algorithm selection, dynamic portfolios, and learned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23317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Handcrafted heuristics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191256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/>
              <a:t>Transparent and efficient but depend on expert-designed thresholds and may be brittle under distribution shift.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23317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Dynamic portfolios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40864"/>
            <a:ext cx="3191256" cy="17099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Gagliolo &amp; Schmidhuber study learning when to allocate computation among algorithms; selection can depend on evolving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23317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965960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Learned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40864"/>
            <a:ext cx="3191256" cy="17099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Gasse et al. show how learned representations/policies can guide combinatorial optimization decisions. Transfer to factorization is a hypothesis to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5156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rPr dirty="0"/>
              <a:t>Gap addressed: evaluate whether a compact PPO policy can learn useful method-selection behavior for synthetic semiprimes.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The environment: turn factorization into sequential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A Gymnasium-compatible environment exposes observations, actions, rewards, and termination.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993392" cy="11430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18105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Aptos"/>
              </a:defRPr>
            </a:pPr>
            <a:r>
              <a:t>Input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87752"/>
            <a:ext cx="181051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Synthetic semiprime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340864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9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011680"/>
            <a:ext cx="1993392" cy="1143000"/>
          </a:xfrm>
          <a:prstGeom prst="roundRect">
            <a:avLst/>
          </a:prstGeom>
          <a:solidFill>
            <a:srgbClr val="1B2A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2212848"/>
            <a:ext cx="18105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587752"/>
            <a:ext cx="181051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Features +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340864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9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2011680"/>
            <a:ext cx="1993392" cy="1143000"/>
          </a:xfrm>
          <a:prstGeom prst="roundRect">
            <a:avLst/>
          </a:prstGeom>
          <a:solidFill>
            <a:srgbClr val="1B2A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12664" y="2212848"/>
            <a:ext cx="18105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587752"/>
            <a:ext cx="181051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One of 5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340864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9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0376" y="2011680"/>
            <a:ext cx="1993392" cy="11430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71816" y="2212848"/>
            <a:ext cx="18105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2587752"/>
            <a:ext cx="181051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Bounded work chunk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340864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9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9528" y="2011680"/>
            <a:ext cx="1993392" cy="114300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212848"/>
            <a:ext cx="1810512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587752"/>
            <a:ext cx="181051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F5F8FC"/>
                </a:solidFill>
                <a:latin typeface="Aptos"/>
              </a:defRPr>
            </a:pPr>
            <a:r>
              <a:t>Reward + next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5303520" cy="155448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3840480"/>
            <a:ext cx="4974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Observation /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215383"/>
            <a:ext cx="4974336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Bit length of n and remaining cofactor; residues/modular features; method history; steps or time budget remaining.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03320"/>
            <a:ext cx="5303520" cy="155448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3840480"/>
            <a:ext cx="49743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Action / transition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215383"/>
            <a:ext cx="4974336" cy="932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Select one method, execute a bounded chunk, update the remaining cofactor, and return reward plus termination flags.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B923C"/>
                </a:solidFill>
                <a:latin typeface="Aptos"/>
              </a:defRPr>
            </a:pPr>
            <a:r>
              <a:t>Important: method runtime must be capped or normalized so one action cannot consume unbounded compute.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Baselines: what should PPO beat?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All methods should use the same test instances and comparable computational budgets.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Trial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828800"/>
            <a:ext cx="7955279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Simple reference; likely weak as size increases.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59152"/>
            <a:ext cx="10241280" cy="10972"/>
          </a:xfrm>
          <a:prstGeom prst="rect">
            <a:avLst/>
          </a:prstGeom>
          <a:solidFill>
            <a:srgbClr val="23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ptos"/>
              </a:defRPr>
            </a:pPr>
            <a:r>
              <a:t>Single-method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15184"/>
            <a:ext cx="7955279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Always use Wheel, Fermat, Rho, or p−1.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45536"/>
            <a:ext cx="10241280" cy="10972"/>
          </a:xfrm>
          <a:prstGeom prst="rect">
            <a:avLst/>
          </a:prstGeom>
          <a:solidFill>
            <a:srgbClr val="23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Aptos"/>
              </a:defRPr>
            </a:pPr>
            <a:r>
              <a:t>Random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401568"/>
            <a:ext cx="7955279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Uniformly sample among the five actions.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10241280" cy="10972"/>
          </a:xfrm>
          <a:prstGeom prst="rect">
            <a:avLst/>
          </a:prstGeom>
          <a:solidFill>
            <a:srgbClr val="23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187952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FB923C"/>
                </a:solidFill>
                <a:latin typeface="Aptos"/>
              </a:defRPr>
            </a:pPr>
            <a:r>
              <a:t>Fixed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187952"/>
            <a:ext cx="7955279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Use a predetermined order or time allocation.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18304"/>
            <a:ext cx="10241280" cy="10972"/>
          </a:xfrm>
          <a:prstGeom prst="rect">
            <a:avLst/>
          </a:prstGeom>
          <a:solidFill>
            <a:srgbClr val="23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4ADE80"/>
                </a:solidFill>
                <a:latin typeface="Aptos"/>
              </a:defRPr>
            </a:pPr>
            <a:r>
              <a:t>PPO selector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974336"/>
            <a:ext cx="7955279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State-dependent choices learned from training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25312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B2BECF"/>
                </a:solidFill>
                <a:latin typeface="Aptos"/>
              </a:defRPr>
            </a:pPr>
            <a:r>
              <a:t>Report success rate, median/mean runtime, work units, and timeout rate—not reward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RL architecture: PPO over five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Stable-Baselines3 PPO learns a stochastic policy π(a | s) from rollout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Policy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40864"/>
            <a:ext cx="3099816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Normalized state vector</a:t>
            </a:r>
            <a:br/>
            <a:r>
              <a:t>• bit length / size</a:t>
            </a:r>
            <a:br/>
            <a:r>
              <a:t>• residues or modular features</a:t>
            </a:r>
            <a:br/>
            <a:r>
              <a:t>• remaining budget</a:t>
            </a:r>
            <a:br/>
            <a:r>
              <a:t>• recent method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65960"/>
            <a:ext cx="309981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PPO learner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40864"/>
            <a:ext cx="3099816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Actor–critic policy</a:t>
            </a:r>
            <a:br/>
            <a:r>
              <a:t>Clipped policy objective</a:t>
            </a:r>
            <a:br/>
            <a:r>
              <a:t>Advantage estimates</a:t>
            </a:r>
            <a:br/>
            <a:r>
              <a:t>Entropy / value losses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42900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309981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rPr dirty="0"/>
              <a:t>Action output</a:t>
            </a:r>
            <a:r>
              <a:rPr lang="en-US" dirty="0"/>
              <a:t> – Discrete (5)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099816" cy="118801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rPr dirty="0"/>
              <a:t>0 Trial division</a:t>
            </a:r>
            <a:br>
              <a:rPr dirty="0"/>
            </a:br>
            <a:r>
              <a:rPr dirty="0"/>
              <a:t>1 Wheel</a:t>
            </a:r>
            <a:br>
              <a:rPr dirty="0"/>
            </a:br>
            <a:r>
              <a:rPr dirty="0"/>
              <a:t>2 Fermat</a:t>
            </a:r>
            <a:br>
              <a:rPr dirty="0"/>
            </a:br>
            <a:r>
              <a:rPr dirty="0"/>
              <a:t>3 Rho</a:t>
            </a:r>
            <a:br>
              <a:rPr dirty="0"/>
            </a:br>
            <a:r>
              <a:rPr dirty="0"/>
              <a:t>4 p−1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54203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2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4203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2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2DD4BF"/>
                </a:solidFill>
                <a:latin typeface="Aptos"/>
              </a:defRPr>
            </a:pPr>
            <a:r>
              <a:t>Training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81728"/>
            <a:ext cx="10515600" cy="1097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Collect trajectories across randomly generated training semiprimes.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Estimate advantages and update actor–critic parameters with PPO.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Evaluate the frozen policy on held-out instances; keep evaluation separate from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9</a:t>
            </a:r>
            <a:r>
              <a:rPr dirty="0"/>
              <a:t>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Reward design: success, progress,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Reward should align with the real objective and avoid rewarding unproductive looping.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4ADE80"/>
                </a:solidFill>
                <a:latin typeface="Aptos"/>
              </a:defRPr>
            </a:pPr>
            <a:r>
              <a:t>Positive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86584"/>
            <a:ext cx="3191256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Nontrivial factor discovered</a:t>
            </a:r>
            <a:br/>
            <a:r>
              <a:t>• Complete factorization</a:t>
            </a:r>
            <a:br/>
            <a:r>
              <a:t>• Progress that reduces remaining cofactor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52044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ptos"/>
              </a:defRPr>
            </a:pPr>
            <a:r>
              <a:t>Cost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86584"/>
            <a:ext cx="3191256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Per-work-unit penalty</a:t>
            </a:r>
            <a:br/>
            <a:r>
              <a:t>• Runtime / iteration cost</a:t>
            </a:r>
            <a:br/>
            <a:r>
              <a:t>• Penalty for repeated ineffective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520440" cy="1874519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2011679"/>
            <a:ext cx="319125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Failure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86584"/>
            <a:ext cx="3191256" cy="12527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Timeout / budget exhausted</a:t>
            </a:r>
            <a:br/>
            <a:r>
              <a:t>• Invalid or redundant action</a:t>
            </a:r>
            <a:br/>
            <a:r>
              <a:t>• No progress before termination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Illustrative objective (tune and report coefficients)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t>R = +Rfactor · [nontrivial factor] + Rcomplete · [fully factored] − λ · work − Rtimeout · [timeout]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lang="en-US" dirty="0"/>
              <a:t>10</a:t>
            </a:r>
            <a:r>
              <a:rPr dirty="0"/>
              <a:t> • DATA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Synthetic data and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r>
              <a:t>Train and test on semiprimes generated from distinct prime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2029968" cy="1353312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700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1700784" cy="7315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Sample distinct primes p,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2487168"/>
            <a:ext cx="274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011680"/>
            <a:ext cx="2029968" cy="1353312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148840"/>
            <a:ext cx="1700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1700784" cy="7315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n = p ×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487168"/>
            <a:ext cx="274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2011680"/>
            <a:ext cx="2029968" cy="1353312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59" y="2148840"/>
            <a:ext cx="1700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523744"/>
            <a:ext cx="1700784" cy="7315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Train / validation / held-out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2487168"/>
            <a:ext cx="274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2011680"/>
            <a:ext cx="2029968" cy="1353312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148840"/>
            <a:ext cx="1700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23744"/>
            <a:ext cx="1700784" cy="7315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PPO rollouts +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2487168"/>
            <a:ext cx="274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B2BE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3807" y="2011680"/>
            <a:ext cx="2029968" cy="1353312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399" y="2148840"/>
            <a:ext cx="1700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4ADE80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9" y="2523744"/>
            <a:ext cx="1700784" cy="73151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Fixed seeds + shared budget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86200"/>
            <a:ext cx="5212080" cy="132588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023360"/>
            <a:ext cx="48828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16-bit progression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398264"/>
            <a:ext cx="4882896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Start with smaller factors / semiprimes to validate the environment and learn basic method differences.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212080" cy="132588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4023360"/>
            <a:ext cx="488289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t>32-bit progression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398264"/>
            <a:ext cx="4882896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Increase factor size and difficulty; evaluate whether the learned policy generalizes under a fixed budget.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23560"/>
            <a:ext cx="105156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FB923C"/>
                </a:solidFill>
                <a:latin typeface="Aptos"/>
              </a:defRPr>
            </a:pPr>
            <a:r>
              <a:t>Controls: disjoint factor pairs across splits • fixed seeds • identical budgets • log code/config versions.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lang="en-US" dirty="0"/>
              <a:t>11</a:t>
            </a:r>
            <a:r>
              <a:rPr dirty="0"/>
              <a:t> •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16-bit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662940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Rollout vs. Reward Mean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08392" y="3447288"/>
            <a:ext cx="36484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958CAB-4C82-0E2C-DCFC-CFA7AC11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5940"/>
            <a:ext cx="10972800" cy="42462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lang="en-US" dirty="0"/>
              <a:t>12</a:t>
            </a:r>
            <a:r>
              <a:rPr dirty="0"/>
              <a:t> •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dirty="0"/>
              <a:t>32-bit evaluation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B1FEEE-8FF1-BDF7-FDE3-CD4EE410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4" y="1741002"/>
            <a:ext cx="6687892" cy="3779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F65BE2-E20F-9650-48C9-4903ECE0A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211918"/>
            <a:ext cx="10972799" cy="42803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Aptos"/>
              </a:defRPr>
            </a:pPr>
            <a:r>
              <a:rPr lang="en-US" dirty="0"/>
              <a:t>13</a:t>
            </a:r>
            <a:r>
              <a:rPr dirty="0"/>
              <a:t>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Conclusions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B2BECF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00584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B2BEC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520440" cy="150876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Aptos"/>
              </a:defRPr>
            </a:pPr>
            <a:r>
              <a:rPr lang="en-US" dirty="0"/>
              <a:t>16-bit semiprimes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59" y="2340864"/>
            <a:ext cx="3191256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100% PPO success with 1.00 average decision step.  Wheel factorization is the obvious choice.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150876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96596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rPr lang="en-US" dirty="0"/>
              <a:t>32-bit semiprimes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07992" y="2340864"/>
            <a:ext cx="3191256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100% PPO success with 1.79 average decision step.  Fermat method is the best performer.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28431" y="1828800"/>
            <a:ext cx="3520440" cy="150876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3" y="196596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ptos"/>
              </a:defRPr>
            </a:pPr>
            <a:r>
              <a:rPr lang="en-US" dirty="0"/>
              <a:t>Slow fixed baselines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193023" y="2340864"/>
            <a:ext cx="3191256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Trail division and wheel factorization are significantly slower in decision count.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58368" y="3703320"/>
            <a:ext cx="3520440" cy="14173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84048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rPr lang="en-US" dirty="0"/>
              <a:t>The results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2959" y="4215383"/>
            <a:ext cx="3191256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Pollard’s rho reaches 100% success at 2.03 steps.  P-1 performance is slightly worse.  Fermat method leads the way.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343400" y="3703320"/>
            <a:ext cx="3520440" cy="14173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384048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Aptos"/>
              </a:defRPr>
            </a:pPr>
            <a:r>
              <a:rPr lang="en-US" dirty="0"/>
              <a:t>Wilcoxon output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507992" y="4215383"/>
            <a:ext cx="3191256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Wilcoxon output does not show a statistically significant difference between PPO and Pollard’s rho at the 0.05 level.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028431" y="3703320"/>
            <a:ext cx="3520440" cy="1417320"/>
          </a:xfrm>
          <a:prstGeom prst="roundRect">
            <a:avLst/>
          </a:prstGeom>
          <a:solidFill>
            <a:srgbClr val="1B2A42"/>
          </a:solidFill>
          <a:ln>
            <a:solidFill>
              <a:srgbClr val="23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3023" y="3840480"/>
            <a:ext cx="3191256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rPr lang="en-US" dirty="0"/>
              <a:t>The winner?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193023" y="4215383"/>
            <a:ext cx="3191256" cy="5109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The results do not establish a robust performance advantage.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984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Possible n</a:t>
            </a:r>
            <a:r>
              <a:rPr dirty="0"/>
              <a:t>ext steps:</a:t>
            </a:r>
            <a:r>
              <a:rPr lang="en-US" dirty="0"/>
              <a:t> Incorporation of additional methods 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1705</Words>
  <Application>Microsoft Office PowerPoint</Application>
  <PresentationFormat>Widescreen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Kyah Hicks</cp:lastModifiedBy>
  <cp:revision>6</cp:revision>
  <dcterms:created xsi:type="dcterms:W3CDTF">2013-01-27T09:14:16Z</dcterms:created>
  <dcterms:modified xsi:type="dcterms:W3CDTF">2026-10-30T01:02:34Z</dcterms:modified>
  <cp:category/>
</cp:coreProperties>
</file>